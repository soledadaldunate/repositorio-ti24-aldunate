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portada. Presentar el tema: predicción de incumplimiento bancario con Random Forest.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 el recorrido de la presentacion para orientar a la audiencia.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el problema de negocio: predecir quién no pagará su préstamo. Mostrar el desbalance de clases (88/12).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Describir el dataset: fuente Kaggle, tamaño, variables. Mencionar que no tiene valores nulos.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las distribuciones. Aclarar que el dataset es sintético por las distribuciones tan uniformes.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correlaciones individuales con Default son bajas. Ninguna variable sola es suficiente — por eso necesitamos un modelo que combine muchas.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Bagging con las 3 etapas. La clave es que cada modelo ve datos ligeramente distintos, por eso sus errores no coinciden.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diferencia clave de RF vs Bagging: la selección aleatoria de variables. Mencionar la impureza de Gini.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por qué se guardan los archivos: para que notebooks 03 y 04 compartan exactamente los mismos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slide responde la pregunta específica del docente: por qué se guardan los datos en el notebook 02 y cómo los usan los notebooks 03 y 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cada hiperparámetro. Enfatizar class_weight='balanced' porque los datos están desbalanceados.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Interpretar la importancia: Age es la más importante porque los jóvenes tienen menos historial. InterestRate alta implica pagos más difíciles.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la matriz de confusión: TP=casos de default correctamente detectados. FP=clientes buenos clasificados mal. El F1 de Default es bajo por el desbalance.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 gana en accuracy general. Reg. Logística detecta más defaults pero con más falsas alarmas. El AUC es casi igual (~0.75): similar capacidad discriminativa.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Resumir los hallazgos principales. Mencionar mejoras futuras como SMOTE y XGBoost para el desbalance de clases.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de la presentación. Dejar tiempo para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109728" cy="5143500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457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A8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82880" y="10058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46888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TI24 — Proyecto Final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64008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Prediccion de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Incumplimiento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Prestamos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474720" y="29260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tecnicas de ensamble para identificar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riesgo de incumplimiento bancario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4389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[Tu Nombre Completo]  |  Junio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 la Presentacion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14300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predecir incumplimientos?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4300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32588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4068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255,347 prestamos — 18 variables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Analisis Exploratorio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correlaciones y patrones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37744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406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y Random Forest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26334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teoricos del modelo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24612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42900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3685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Metricas, matriz de confusion y curvas ROC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324612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42900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40680" y="33375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Comparacion de Modelos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36850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vs Regresion Logistica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4297680"/>
            <a:ext cx="41148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480560"/>
            <a:ext cx="502920" cy="502920"/>
          </a:xfrm>
          <a:prstGeom prst="ellipse">
            <a:avLst/>
          </a:prstGeom>
          <a:solidFill>
            <a:srgbClr val="1A4A8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51560" y="4389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051560" y="4736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y proximos pasos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Problema: ¿Quien Incumplira su Prestamo?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97280"/>
            <a:ext cx="4297680" cy="34747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bancos necesitan saber de antemano si un cliente va a pagar su prestamo o no.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de machine learning puede aprender de datos historicos y ayudar a tomar mejores decisiones.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proyecto predice si un cliente va a incumplir (Default = 1) o no (Default = 0).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20640" y="109728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20640" y="1188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88.4%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120640" y="1737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incumple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237744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2468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11.6%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120640" y="30175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clientes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incumple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0640" y="3657600"/>
            <a:ext cx="3566160" cy="1097280"/>
          </a:xfrm>
          <a:prstGeom prst="roundRect">
            <a:avLst>
              <a:gd name="adj" fmla="val 8333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0" y="37490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255K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5120640" y="42976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prestamos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Dataset: Loan Default Prediction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255,347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460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51460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Numericas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12280" y="1097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1430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12280" y="16459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Var. Categoricas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194560"/>
            <a:ext cx="416052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Numericas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26517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LoanAmount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CreditScore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MonthsEmployed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NumCreditLines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LoanTerm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DTIRatio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194560"/>
            <a:ext cx="402336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286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Categoricas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46320" y="265176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EmploymentType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MaritalStatus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HasMortgage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HasDependents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LoanPurpose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HasCoSigner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Analisis Exploratorio de Datos (EDA)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2834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40680" y="914400"/>
            <a:ext cx="347472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principales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577840" y="14173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 casi uniformes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Edad: 18 a 69 anos, media 43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Ingreso: $15K a $150K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interes: 2% a 25%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NumCreditLines es discreta (1-4)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valores nulos ni duplicados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" y="3840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 de variables numericas (histogramas)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Correlaciones y Variable Objetivo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4572000" cy="32004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3840480" cy="2286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029200" y="33375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029200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+0.13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502920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 → Default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6309360" y="33375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6309360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-0.17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30936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→ Default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7589520" y="3337560"/>
            <a:ext cx="1143000" cy="822960"/>
          </a:xfrm>
          <a:prstGeom prst="roundRect">
            <a:avLst>
              <a:gd name="adj" fmla="val 6667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7589520" y="3364992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-0.10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589520" y="374904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→ Default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¿Que es Bagging?  (Bootstrap Aggregating)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417320"/>
            <a:ext cx="640080" cy="64008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sacan B muestras del dataset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reemplazo. Cada muestra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tener datos repetidos.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417320"/>
            <a:ext cx="640080" cy="64008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8328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Entrenar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cada muestra se entrena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modelo independiente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(arbol de decision).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52400" dist="508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0" y="1417320"/>
            <a:ext cx="640080" cy="64008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Agregar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26517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prediccion final es la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votacion de todos los modelos.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mas votada gana.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Los errores de los modelos individuales se cancelan entre si, logrando mejor precision.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Forest: Bagging + Seleccion Aleatoria de Variables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4114800" cy="32004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agrega una mejora sobre Bagging: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nodo de cada arbol, no se evaluan TODAS las variables, sino solo una muestra aleatoria de ellas (tipicamente √p variables).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hace que los arboles sean mas distintos entre si, y al combinarlos el resultado mejora.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754880" y="10058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0D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Prediccion final: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92040" y="1508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H(x) = argmax_c  Σ 1[h_b(x)=c]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20116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que mas arboles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predicen es la ganadora.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926080"/>
            <a:ext cx="411480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3017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division: Impureza de Gini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3429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4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G(t) = 1 - Σ p_c²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G=0 nodo puro   |   G≈0.5 completamente mezclado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Preprocesamiento de Datos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Eliminar LoanID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de ID sin valor predictivo.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05156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datos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057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valores nulos. 0 duplicados.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05156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9360" y="16002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205740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variables categoricas → numeros.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0632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entreno (204K) / 20% prueba (51K). stratify=y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297180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0" y="30632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38328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8328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vars numericas → media=0, std=1. Solo fit en train.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297180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063240"/>
            <a:ext cx="457200" cy="45720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09360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archivos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309360" y="406908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X_train.csv, X_test.csv, scaler.pkl → usados por notebooks 03 y 04.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que se guardan los datos procesados?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02_preprocessing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0D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371600"/>
            <a:ext cx="265176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data/processed/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X_train.csv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X_test.csv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scaler.pkl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17920" y="914400"/>
            <a:ext cx="265176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03_model_main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Forest)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60604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606040"/>
            <a:ext cx="2651760" cy="13716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04_model_comparison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(Reg. Logistica)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2057400"/>
            <a:ext cx="27432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0" y="1600200"/>
            <a:ext cx="27432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3337560"/>
            <a:ext cx="274320" cy="0"/>
          </a:xfrm>
          <a:prstGeom prst="line">
            <a:avLst/>
          </a:prstGeom>
          <a:noFill/>
          <a:ln w="38100">
            <a:solidFill>
              <a:srgbClr val="D4A01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3017520"/>
            <a:ext cx="841248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3108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2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que es importante esto?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guardar los datos ya procesados (escalados y codificados), los notebooks 03 y 04 pueden usarlos directamente sin repetir el preprocesamiento. Esto garantiza que ambos modelos fueron entrenados y evaluados exactamente con los mismos datos, haciendo la comparacion justa y reproducible.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Hiperparametros de Random Forest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8412480" cy="45720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0" y="98755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 = 100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arboles en el bosque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5544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arboles = mas estable, pero mas lento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121408"/>
            <a:ext cx="841248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212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max_features = sqrt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2212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cuadrada de variables por nodo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0" y="22128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la diversidad entre arboles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779776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871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 = None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00400" y="2871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limite de profundidad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87121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arboles crecen hasta ser puros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438144"/>
            <a:ext cx="841248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529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 = balanced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3529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 pesos por desbalance (88/12)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3529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el modelo ignore el Default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841248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 = 42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fija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41879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 reproducibilidad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de Variables — Random Forest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00584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0" y="10789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21.9%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486400" y="1664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0" y="22860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486400" y="23591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17.4%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486400" y="294436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InterestRate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356616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0D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0" y="36393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14.9%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486400" y="422452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confirma que la edad, la tasa de interes y el ingreso son los predictores mas importantes.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Resultados: Matriz de Confusion — Random Forest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029200" cy="3931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577840" y="100584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577840" y="107899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79.7%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5577840" y="166420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577840" y="228600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22553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577840" y="23591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0.751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577840" y="294436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3566160"/>
            <a:ext cx="3200400" cy="1051560"/>
          </a:xfrm>
          <a:prstGeom prst="roundRect">
            <a:avLst>
              <a:gd name="adj" fmla="val 6957"/>
            </a:avLst>
          </a:prstGeom>
          <a:solidFill>
            <a:srgbClr val="0D224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577840" y="363931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577840" y="422452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Default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TP: 3,248  |  FP: 8,880  |  FN: 2,683  |  TN: 36,259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22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Comparacion: Random Forest vs Regresion Logistica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2553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21031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063240"/>
            <a:ext cx="4114800" cy="192024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572000" y="960120"/>
            <a:ext cx="4297680" cy="41148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7" name="Text 3"/>
          <p:cNvSpPr/>
          <p:nvPr/>
        </p:nvSpPr>
        <p:spPr>
          <a:xfrm>
            <a:off x="4617720" y="9875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Metrica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989320" y="9875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360920" y="987552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Reg. Logistica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572000" y="1417320"/>
            <a:ext cx="4297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7"/>
          <p:cNvSpPr/>
          <p:nvPr/>
        </p:nvSpPr>
        <p:spPr>
          <a:xfrm>
            <a:off x="46177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59893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360920" y="1463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67.7%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1801368"/>
            <a:ext cx="4297680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5" name="Text 11"/>
          <p:cNvSpPr/>
          <p:nvPr/>
        </p:nvSpPr>
        <p:spPr>
          <a:xfrm>
            <a:off x="4617720" y="1847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Default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989320" y="1847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360920" y="1847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0.33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2185416"/>
            <a:ext cx="4297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4617720" y="22311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989320" y="22311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360920" y="2231136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0.750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0" y="2569464"/>
            <a:ext cx="4297680" cy="3657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3" name="Text 19"/>
          <p:cNvSpPr/>
          <p:nvPr/>
        </p:nvSpPr>
        <p:spPr>
          <a:xfrm>
            <a:off x="4617720" y="2615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Falsos Positivos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5989320" y="2615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8,880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7360920" y="261518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14,888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4572000" y="2953512"/>
            <a:ext cx="42976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3"/>
          <p:cNvSpPr/>
          <p:nvPr/>
        </p:nvSpPr>
        <p:spPr>
          <a:xfrm>
            <a:off x="4617720" y="2999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Verdaderos Positivos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5989320" y="2999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3,248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7360920" y="29992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5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4,170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4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554480"/>
            <a:ext cx="502920" cy="50292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supera en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755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79.7% vs 67.7% de la Regresion Logistica.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1460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788920"/>
            <a:ext cx="502920" cy="50292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similar (0.75)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2990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modelos discriminan igual de bien.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4904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51560" y="3840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Desbalance es el reto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22452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F1=0.36 para Default. Hay margen de mejora.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128016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1554480"/>
            <a:ext cx="502920" cy="50292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623560" y="13716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23560" y="175564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tasa de interes e ingreso predicen mejor.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2514600"/>
            <a:ext cx="4114800" cy="1051560"/>
          </a:xfrm>
          <a:prstGeom prst="roundRect">
            <a:avLst>
              <a:gd name="adj" fmla="val 7826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2788920"/>
            <a:ext cx="502920" cy="502920"/>
          </a:xfrm>
          <a:prstGeom prst="ellipse">
            <a:avLst/>
          </a:prstGeom>
          <a:solidFill>
            <a:srgbClr val="22553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623560" y="26060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Proximos pasos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23560" y="2990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SMOTE, GridSearchCV, XGBoost.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731520"/>
            <a:ext cx="6400800" cy="1280160"/>
          </a:xfrm>
          <a:prstGeom prst="roundRect">
            <a:avLst>
              <a:gd name="adj" fmla="val 10714"/>
            </a:avLst>
          </a:prstGeom>
          <a:solidFill>
            <a:srgbClr val="1A4A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371600" y="7772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bibliograficas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(2001). Random forests. Machine Learning, 45(1), 5-32.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Hastie, T., Tibshirani, R. &amp; Friedman, J. (2009). The Elements of Statistical Learning (2nd ed.). Springer.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James, G., Witten, D., Hastie, T. &amp; Tibshirani, R. (2021). An Introduction to Statistical Learning (2nd ed.). Springer.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Mitchell, T. (1997). Machine Learning. McGraw-Hill.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Breiman, L. (1996). Bagging predictors. Machine Learning, 24(2), 123-140.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github.com/[usuario]/repositorio-TI24    |    Junio 2025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 de Incumplimiento - Random Forest</dc:title>
  <dc:subject>PptxGenJS Presentation</dc:subject>
  <dc:creator>TI24</dc:creator>
  <cp:lastModifiedBy>TI24</cp:lastModifiedBy>
  <cp:revision>1</cp:revision>
  <dcterms:created xsi:type="dcterms:W3CDTF">2026-06-16T10:10:43Z</dcterms:created>
  <dcterms:modified xsi:type="dcterms:W3CDTF">2026-06-16T10:10:43Z</dcterms:modified>
</cp:coreProperties>
</file>